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2" r:id="rId6"/>
    <p:sldId id="271" r:id="rId7"/>
    <p:sldId id="265" r:id="rId8"/>
    <p:sldId id="263" r:id="rId9"/>
    <p:sldId id="264" r:id="rId10"/>
    <p:sldId id="266" r:id="rId11"/>
    <p:sldId id="267" r:id="rId12"/>
    <p:sldId id="268" r:id="rId13"/>
    <p:sldId id="270" r:id="rId14"/>
    <p:sldId id="269" r:id="rId15"/>
    <p:sldId id="261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1pPr>
    <a:lvl2pPr marL="0" marR="0" indent="3429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2pPr>
    <a:lvl3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3pPr>
    <a:lvl4pPr marL="0" marR="0" indent="10287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4pPr>
    <a:lvl5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5pPr>
    <a:lvl6pPr marL="0" marR="0" indent="17145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6pPr>
    <a:lvl7pPr marL="0" marR="0" indent="2057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7pPr>
    <a:lvl8pPr marL="0" marR="0" indent="24003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8pPr>
    <a:lvl9pPr marL="0" marR="0" indent="2743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49" d="100"/>
          <a:sy n="49" d="100"/>
        </p:scale>
        <p:origin x="11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59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ody Level One…"/>
          <p:cNvSpPr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800"/>
              </a:spcBef>
              <a:buSzTx/>
              <a:buNone/>
              <a:defRPr sz="4200"/>
            </a:lvl1pPr>
            <a:lvl2pPr marL="0" indent="0">
              <a:spcBef>
                <a:spcPts val="4800"/>
              </a:spcBef>
              <a:buSzTx/>
              <a:buNone/>
              <a:defRPr sz="4200"/>
            </a:lvl2pPr>
            <a:lvl3pPr marL="0" indent="0">
              <a:spcBef>
                <a:spcPts val="4800"/>
              </a:spcBef>
              <a:buSzTx/>
              <a:buNone/>
              <a:defRPr sz="4200"/>
            </a:lvl3pPr>
            <a:lvl4pPr marL="0" indent="0">
              <a:spcBef>
                <a:spcPts val="4800"/>
              </a:spcBef>
              <a:buSzTx/>
              <a:buNone/>
              <a:defRPr sz="4200"/>
            </a:lvl4pPr>
            <a:lvl5pPr marL="0" indent="0">
              <a:spcBef>
                <a:spcPts val="4800"/>
              </a:spcBef>
              <a:buSzTx/>
              <a:buNone/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quare"/>
          <p:cNvSpPr/>
          <p:nvPr/>
        </p:nvSpPr>
        <p:spPr>
          <a:xfrm>
            <a:off x="3251200" y="-1"/>
            <a:ext cx="9753600" cy="9753601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53" name="Title Text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>
            <a:spLocks noGrp="1"/>
          </p:cNvSpPr>
          <p:nvPr>
            <p:ph type="body" sz="half" idx="1"/>
          </p:nvPr>
        </p:nvSpPr>
        <p:spPr>
          <a:xfrm>
            <a:off x="1270000" y="5029200"/>
            <a:ext cx="10464800" cy="308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5" name="cuplv-logo-72ppi_square-gold.png" descr="cuplv-logo-72ppi_square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79" y="7797800"/>
            <a:ext cx="1955801" cy="1955800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004800" cy="1473200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3" name="Title Text"/>
          <p:cNvSpPr>
            <a:spLocks noGrp="1"/>
          </p:cNvSpPr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Body Level One…"/>
          <p:cNvSpPr>
            <a:spLocks noGrp="1"/>
          </p:cNvSpPr>
          <p:nvPr>
            <p:ph type="body" idx="1"/>
          </p:nvPr>
        </p:nvSpPr>
        <p:spPr>
          <a:xfrm>
            <a:off x="444500" y="1676400"/>
            <a:ext cx="12115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800">
                <a:latin typeface="+mn-lt"/>
                <a:ea typeface="+mn-ea"/>
                <a:cs typeface="+mn-c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9pPr>
    </p:titleStyle>
    <p:bodyStyle>
      <a:lvl1pPr marL="889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1pPr>
      <a:lvl2pPr marL="1333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2pPr>
      <a:lvl3pPr marL="1778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3pPr>
      <a:lvl4pPr marL="2222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4pPr>
      <a:lvl5pPr marL="2667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5pPr>
      <a:lvl6pPr marL="30226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6pPr>
      <a:lvl7pPr marL="33782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7pPr>
      <a:lvl8pPr marL="37338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8pPr>
      <a:lvl9pPr marL="40894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"/>
          <p:cNvSpPr>
            <a:spLocks noGrp="1"/>
          </p:cNvSpPr>
          <p:nvPr>
            <p:ph type="title"/>
          </p:nvPr>
        </p:nvSpPr>
        <p:spPr>
          <a:xfrm>
            <a:off x="1270000" y="1705707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rPr lang="en-US" dirty="0" err="1"/>
              <a:t>Skja</a:t>
            </a:r>
            <a:r>
              <a:rPr lang="en-US" dirty="0"/>
              <a:t>: Adversarial Logic on Steroids</a:t>
            </a:r>
            <a:endParaRPr dirty="0"/>
          </a:p>
        </p:txBody>
      </p:sp>
      <p:sp>
        <p:nvSpPr>
          <p:cNvPr id="66" name="PLACE…"/>
          <p:cNvSpPr>
            <a:spLocks noGrp="1"/>
          </p:cNvSpPr>
          <p:nvPr>
            <p:ph type="body" sz="quarter" idx="1"/>
          </p:nvPr>
        </p:nvSpPr>
        <p:spPr>
          <a:xfrm>
            <a:off x="1270000" y="8305800"/>
            <a:ext cx="10464800" cy="95250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rPr lang="en-IN" sz="2400" dirty="0"/>
              <a:t>Final Project, CSCI – 7135</a:t>
            </a:r>
          </a:p>
          <a:p>
            <a:pPr>
              <a:defRPr sz="2400"/>
            </a:pPr>
            <a:r>
              <a:rPr lang="en-IN" sz="2400" dirty="0"/>
              <a:t>ECCE 1B47</a:t>
            </a:r>
            <a:endParaRPr dirty="0"/>
          </a:p>
          <a:p>
            <a:pPr>
              <a:defRPr sz="2400"/>
            </a:pPr>
            <a:endParaRPr dirty="0"/>
          </a:p>
        </p:txBody>
      </p:sp>
      <p:sp>
        <p:nvSpPr>
          <p:cNvPr id="69" name="AUTHOR 1"/>
          <p:cNvSpPr/>
          <p:nvPr/>
        </p:nvSpPr>
        <p:spPr>
          <a:xfrm>
            <a:off x="4829268" y="5880061"/>
            <a:ext cx="3603551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000"/>
            </a:lvl1pPr>
          </a:lstStyle>
          <a:p>
            <a:r>
              <a:rPr lang="en-IN" sz="2800" dirty="0"/>
              <a:t>Sai Lalith Kumar Aka</a:t>
            </a:r>
            <a:endParaRPr sz="2800" dirty="0"/>
          </a:p>
        </p:txBody>
      </p:sp>
      <p:sp>
        <p:nvSpPr>
          <p:cNvPr id="70" name="University of Colorado Boulder"/>
          <p:cNvSpPr/>
          <p:nvPr/>
        </p:nvSpPr>
        <p:spPr>
          <a:xfrm>
            <a:off x="3466279" y="6731932"/>
            <a:ext cx="6073778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600"/>
            </a:pPr>
            <a:r>
              <a:rPr sz="3200" dirty="0"/>
              <a:t>University of Colorado Boulder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N" dirty="0"/>
              <a:t>Incorrectness Logic [1][2] </a:t>
            </a:r>
            <a:endParaRPr dirty="0"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xfrm>
            <a:off x="6381749" y="9258300"/>
            <a:ext cx="228601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49FF3-9482-F632-9956-E7F9C03C6382}"/>
              </a:ext>
            </a:extLst>
          </p:cNvPr>
          <p:cNvSpPr txBox="1"/>
          <p:nvPr/>
        </p:nvSpPr>
        <p:spPr>
          <a:xfrm>
            <a:off x="513243" y="2110666"/>
            <a:ext cx="10813518" cy="3334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Very interesting paradigm of under-approximate triples 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04C3A662-B030-8F08-2B51-A8A84A093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02" y="3976495"/>
            <a:ext cx="7737494" cy="47551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D888-6D48-2F0A-9D85-3D44A774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Non-Trivial Triples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55ED8-77E9-EAD3-70B3-77907FCA9060}"/>
              </a:ext>
            </a:extLst>
          </p:cNvPr>
          <p:cNvSpPr txBox="1"/>
          <p:nvPr/>
        </p:nvSpPr>
        <p:spPr>
          <a:xfrm>
            <a:off x="274320" y="3239589"/>
            <a:ext cx="12730480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&lt;T&gt; x := y; z := x &lt;z = y&gt;              </a:t>
            </a:r>
            <a:r>
              <a:rPr lang="en-IN" dirty="0">
                <a:highlight>
                  <a:srgbClr val="FF0000"/>
                </a:highlight>
              </a:rPr>
              <a:t>-- Not Valid</a:t>
            </a:r>
          </a:p>
          <a:p>
            <a:endParaRPr lang="en-IN" dirty="0"/>
          </a:p>
          <a:p>
            <a:r>
              <a:rPr lang="en-IN" dirty="0"/>
              <a:t>As final states satisfying x not equal to y are not reachable</a:t>
            </a:r>
          </a:p>
          <a:p>
            <a:endParaRPr lang="en-IN" dirty="0"/>
          </a:p>
          <a:p>
            <a:r>
              <a:rPr lang="en-IN" dirty="0"/>
              <a:t>&lt;T&gt; x := y; z := x &lt;z = y ^ x = y&gt;   </a:t>
            </a:r>
            <a:r>
              <a:rPr lang="en-IN" dirty="0">
                <a:highlight>
                  <a:srgbClr val="00FF00"/>
                </a:highlight>
              </a:rPr>
              <a:t>-- Valid</a:t>
            </a:r>
          </a:p>
        </p:txBody>
      </p:sp>
    </p:spTree>
    <p:extLst>
      <p:ext uri="{BB962C8B-B14F-4D97-AF65-F5344CB8AC3E}">
        <p14:creationId xmlns:p14="http://schemas.microsoft.com/office/powerpoint/2010/main" val="5833163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F51E-37A5-E55F-8D5C-0A3C56E9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Meme [3]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B588D9-D3F3-899F-9F26-303A6719C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738" y="1720129"/>
            <a:ext cx="13132538" cy="737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03D7E92-71C6-BBAA-696F-5EA3D9639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414" y="2442332"/>
            <a:ext cx="2768764" cy="2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32152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A74A-6CAF-633C-26FC-A4566360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Adversarial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E092B-DC8D-7B57-CF4A-92E38E6AB92D}"/>
              </a:ext>
            </a:extLst>
          </p:cNvPr>
          <p:cNvSpPr txBox="1"/>
          <p:nvPr/>
        </p:nvSpPr>
        <p:spPr>
          <a:xfrm>
            <a:off x="326572" y="1774546"/>
            <a:ext cx="10737669" cy="3980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utura"/>
                <a:ea typeface="Futura"/>
                <a:cs typeface="Futura"/>
                <a:sym typeface="Futura"/>
              </a:rPr>
              <a:t>A program and adversary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utura"/>
                <a:ea typeface="Futura"/>
                <a:cs typeface="Futura"/>
                <a:sym typeface="Futura"/>
              </a:rPr>
              <a:t>Extends Incorrectness to channels which leads to composition of attacker and program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14E8CA0-7F09-5480-DC5E-083FE71F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288" y="4776357"/>
            <a:ext cx="6934556" cy="440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4763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3ACF-E36D-2B9C-48FE-BDDF43E4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 trace</a:t>
            </a:r>
          </a:p>
        </p:txBody>
      </p:sp>
      <p:pic>
        <p:nvPicPr>
          <p:cNvPr id="4" name="Picture 3" descr="A black screen with white text and colorful text&#10;&#10;AI-generated content may be incorrect.">
            <a:extLst>
              <a:ext uri="{FF2B5EF4-FFF2-40B4-BE49-F238E27FC236}">
                <a16:creationId xmlns:a16="http://schemas.microsoft.com/office/drawing/2014/main" id="{B4486FBF-9575-5D52-FCF9-BD0BD26B1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9" y="1485495"/>
            <a:ext cx="8308786" cy="826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012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8A56-2A7C-2ABB-F4B5-896711ED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pic>
        <p:nvPicPr>
          <p:cNvPr id="1026" name="Picture 2" descr="3d illustration of abstract technology background with glowing lines and dots, Modern digital abstract 3D background. Can be used in the description of network abilities, AI Generated photo">
            <a:extLst>
              <a:ext uri="{FF2B5EF4-FFF2-40B4-BE49-F238E27FC236}">
                <a16:creationId xmlns:a16="http://schemas.microsoft.com/office/drawing/2014/main" id="{0BF72641-3051-BC35-C436-731FCC38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983" y="6761722"/>
            <a:ext cx="4487817" cy="299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71963D-96A7-A56E-2288-641DEF8C77E8}"/>
              </a:ext>
            </a:extLst>
          </p:cNvPr>
          <p:cNvSpPr txBox="1"/>
          <p:nvPr/>
        </p:nvSpPr>
        <p:spPr>
          <a:xfrm>
            <a:off x="239984" y="1412505"/>
            <a:ext cx="11728767" cy="78585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You can compose multiple programs in AL itself as pointed by Kirby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The "Monolithic State" Problem (You have to model separation of concern)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Replication and Asynchrony (!P)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Topology is fixed at start, </a:t>
            </a:r>
            <a:r>
              <a:rPr lang="en-IN" dirty="0" err="1"/>
              <a:t>spi</a:t>
            </a:r>
            <a:r>
              <a:rPr lang="en-IN" dirty="0"/>
              <a:t>-calc gives us more flexibility to model changes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0063236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E401-E1AC-F57B-68F5-4A6B3281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Composition as a Monoid (||)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3FCB3-F34F-E865-6612-A19F26F15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89" y="2808369"/>
            <a:ext cx="7376764" cy="516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6706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5662-8062-E1CA-566E-6A5013E5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 Goal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77F62-A65D-40CD-2BEE-B33743474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46" y="2800798"/>
            <a:ext cx="8968067" cy="1577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E87A3-2B57-CECD-5735-704A077DA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66" y="6514365"/>
            <a:ext cx="5031825" cy="120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8129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2F69-C284-8824-B683-4EEAAD4F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 N-Par rule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078BC-E187-ED4D-4830-A70DF901E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8" y="4350482"/>
            <a:ext cx="12278912" cy="1782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B49A1-E1FA-1356-F2D8-6FF0B0BC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074" y="7707960"/>
            <a:ext cx="2901835" cy="78961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1BDD4F-4B27-821A-209C-515056A95829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535909" y="8102768"/>
            <a:ext cx="4467180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3A7F1C8-C0FA-F17E-7A04-DA9D1A0D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089" y="7553738"/>
            <a:ext cx="1773789" cy="109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474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3599-3307-2888-5806-B63D6ADC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62857"/>
            <a:ext cx="12115800" cy="1270000"/>
          </a:xfrm>
        </p:spPr>
        <p:txBody>
          <a:bodyPr/>
          <a:lstStyle/>
          <a:p>
            <a:r>
              <a:rPr lang="en-US" b="1" dirty="0"/>
              <a:t>Directed Com Rule (The MitM Enabler)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03B36-7DD2-6DDD-ECC7-A36EBDD3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58" y="3984171"/>
            <a:ext cx="10623083" cy="24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315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4AB-9348-6D74-1E2C-C6F52B31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Proof sketches will be provided for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0809F-0170-5B6E-B005-329E880E4634}"/>
              </a:ext>
            </a:extLst>
          </p:cNvPr>
          <p:cNvSpPr txBox="1"/>
          <p:nvPr/>
        </p:nvSpPr>
        <p:spPr>
          <a:xfrm>
            <a:off x="444500" y="2562400"/>
            <a:ext cx="11390449" cy="52732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Soundness for the new rules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Logic is robust under structural congruence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r>
              <a:rPr lang="en-IN" dirty="0"/>
              <a:t>"Adversarial Isolation" Lemma –cannot differentiate if attacker is acting as intercept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0512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E162-77F7-CD9B-1966-EA02AA08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 after the current scope is achieved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B25E0-BEE4-4C40-ECE6-DBDECDA39B42}"/>
              </a:ext>
            </a:extLst>
          </p:cNvPr>
          <p:cNvSpPr txBox="1"/>
          <p:nvPr/>
        </p:nvSpPr>
        <p:spPr>
          <a:xfrm>
            <a:off x="836023" y="3421143"/>
            <a:ext cx="11260183" cy="46269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Handling Encrypted states – Dolev Yao adversary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dirty="0"/>
              <a:t>Automated Protocol Synthesis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/>
          </a:p>
          <a:p>
            <a:r>
              <a:rPr lang="en-IN" dirty="0"/>
              <a:t>Quantitative Adversarial Logic for Availability – [er: crash] or [er: exhausted]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152475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D72A-6C5F-3B7F-24B6-473DABDB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1600"/>
            <a:ext cx="12115800" cy="1270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7800"/>
              <a:t>Thank you and questions</a:t>
            </a:r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9244E3A6-989F-A7F9-CEE7-0E621A3C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5" r="2" b="9433"/>
          <a:stretch>
            <a:fillRect/>
          </a:stretch>
        </p:blipFill>
        <p:spPr>
          <a:xfrm>
            <a:off x="444500" y="1562100"/>
            <a:ext cx="12115800" cy="6190285"/>
          </a:xfrm>
          <a:prstGeom prst="rect">
            <a:avLst/>
          </a:prstGeom>
          <a:noFill/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1822098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E875-1A4C-5635-B62E-FD624891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D036E-5CFE-D55F-5947-6A154167FB7D}"/>
              </a:ext>
            </a:extLst>
          </p:cNvPr>
          <p:cNvSpPr txBox="1"/>
          <p:nvPr/>
        </p:nvSpPr>
        <p:spPr>
          <a:xfrm>
            <a:off x="353960" y="3779261"/>
            <a:ext cx="11716119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IN" sz="1400" dirty="0"/>
              <a:t>[1]</a:t>
            </a:r>
            <a:r>
              <a:rPr lang="en-US" sz="1400" dirty="0"/>
              <a:t> O'Hearn, Peter W. "Incorrectness logic." </a:t>
            </a:r>
            <a:r>
              <a:rPr lang="en-US" sz="1400" i="1" dirty="0"/>
              <a:t>Proceedings of the ACM on Programming Languages</a:t>
            </a:r>
            <a:r>
              <a:rPr lang="en-US" sz="1400" dirty="0"/>
              <a:t> 4.POPL (2019): 1-32.</a:t>
            </a:r>
            <a:endParaRPr lang="en-IN" sz="1400" dirty="0"/>
          </a:p>
          <a:p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utura"/>
                <a:ea typeface="Futura"/>
                <a:cs typeface="Futura"/>
                <a:sym typeface="Futura"/>
              </a:rPr>
              <a:t>[2] </a:t>
            </a:r>
            <a:r>
              <a:rPr lang="en-IN" sz="1400" dirty="0"/>
              <a:t>De Vries, </a:t>
            </a:r>
            <a:r>
              <a:rPr lang="en-IN" sz="1400" dirty="0" err="1"/>
              <a:t>Edsko</a:t>
            </a:r>
            <a:r>
              <a:rPr lang="en-IN" sz="1400" dirty="0"/>
              <a:t>, and Vasileios </a:t>
            </a:r>
            <a:r>
              <a:rPr lang="en-IN" sz="1400" dirty="0" err="1"/>
              <a:t>Koutavas</a:t>
            </a:r>
            <a:r>
              <a:rPr lang="en-IN" sz="1400" dirty="0"/>
              <a:t>. "Reverse </a:t>
            </a:r>
            <a:r>
              <a:rPr lang="en-IN" sz="1400" dirty="0" err="1"/>
              <a:t>hoare</a:t>
            </a:r>
            <a:r>
              <a:rPr lang="en-IN" sz="1400" dirty="0"/>
              <a:t> logic." </a:t>
            </a:r>
            <a:r>
              <a:rPr lang="en-IN" sz="1400" i="1" dirty="0"/>
              <a:t>International Conference on Software Engineering and Formal Methods</a:t>
            </a:r>
            <a:r>
              <a:rPr lang="en-IN" sz="1400" dirty="0"/>
              <a:t>. Berlin, Heidelberg: Springer Berlin Heidelberg, 2011.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  <a:p>
            <a:r>
              <a:rPr lang="en-IN" sz="1400" dirty="0"/>
              <a:t>[3] </a:t>
            </a:r>
            <a:r>
              <a:rPr lang="en-US" sz="1400" dirty="0" err="1"/>
              <a:t>Cousot</a:t>
            </a:r>
            <a:r>
              <a:rPr lang="en-US" sz="1400" dirty="0"/>
              <a:t>, Patrick. "Calculational design of [in] correctness transformational program logics by abstract interpretation." </a:t>
            </a:r>
            <a:r>
              <a:rPr lang="en-US" sz="1400" i="1" dirty="0"/>
              <a:t>Proceedings of the ACM on Programming Languages</a:t>
            </a:r>
            <a:r>
              <a:rPr lang="en-US" sz="1400" dirty="0"/>
              <a:t> 8.POPL (2024): 175-208.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utura"/>
              <a:ea typeface="Futura"/>
              <a:cs typeface="Futura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317096053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352</Words>
  <Application>Microsoft Office PowerPoint</Application>
  <PresentationFormat>Custom</PresentationFormat>
  <Paragraphs>50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Futura</vt:lpstr>
      <vt:lpstr>Gill Sans</vt:lpstr>
      <vt:lpstr>Lucida Grande</vt:lpstr>
      <vt:lpstr>White</vt:lpstr>
      <vt:lpstr>Skja: Adversarial Logic on Steroids</vt:lpstr>
      <vt:lpstr>Incorrectness Logic [1][2] </vt:lpstr>
      <vt:lpstr>Non-Trivial Triples</vt:lpstr>
      <vt:lpstr>Meme [3]</vt:lpstr>
      <vt:lpstr>Adversarial Logic</vt:lpstr>
      <vt:lpstr>Attack trace</vt:lpstr>
      <vt:lpstr>Limitations</vt:lpstr>
      <vt:lpstr>Composition as a Monoid (||)</vt:lpstr>
      <vt:lpstr>New Goal State</vt:lpstr>
      <vt:lpstr>New N-Par rule</vt:lpstr>
      <vt:lpstr>Directed Com Rule (The MitM Enabler) </vt:lpstr>
      <vt:lpstr>Proof sketches will be provided for </vt:lpstr>
      <vt:lpstr>Future work after the current scope is achieved</vt:lpstr>
      <vt:lpstr>Thank you and 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Lalith Kumar Aka</cp:lastModifiedBy>
  <cp:revision>4</cp:revision>
  <dcterms:modified xsi:type="dcterms:W3CDTF">2025-12-10T00:58:33Z</dcterms:modified>
</cp:coreProperties>
</file>